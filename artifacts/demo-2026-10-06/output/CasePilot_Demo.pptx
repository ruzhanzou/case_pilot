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7b11e1c1a499f" /><Relationship Type="http://schemas.openxmlformats.org/officeDocument/2006/relationships/extended-properties" Target="/docProps/app.xml" Id="R20e050c4efff4c73" /><Relationship Type="http://schemas.openxmlformats.org/officeDocument/2006/relationships/officeDocument" Target="/ppt/presentation.xml" Id="R02f930fb8a6740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9725145ccf4b1f"/>
  </p:sldMasterIdLst>
  <p:notesMasterIdLst>
    <p:notesMasterId xmlns:r="http://schemas.openxmlformats.org/officeDocument/2006/relationships" r:id="Rf6e47379bf1341a5"/>
  </p:notesMasterIdLst>
  <p:sldIdLst>
    <p:sldId xmlns:r="http://schemas.openxmlformats.org/officeDocument/2006/relationships" id="256" r:id="Rb2e4a2c8f0b448b8"/>
    <p:sldId xmlns:r="http://schemas.openxmlformats.org/officeDocument/2006/relationships" id="257" r:id="R95ac30ea3cd54472"/>
    <p:sldId xmlns:r="http://schemas.openxmlformats.org/officeDocument/2006/relationships" id="258" r:id="R3d4973a3dc614846"/>
    <p:sldId xmlns:r="http://schemas.openxmlformats.org/officeDocument/2006/relationships" id="259" r:id="Rdab2bda73bca42ac"/>
    <p:sldId xmlns:r="http://schemas.openxmlformats.org/officeDocument/2006/relationships" id="260" r:id="Rb5457e9a06414c9a"/>
    <p:sldId xmlns:r="http://schemas.openxmlformats.org/officeDocument/2006/relationships" id="261" r:id="Rdc50a0babc874685"/>
    <p:sldId xmlns:r="http://schemas.openxmlformats.org/officeDocument/2006/relationships" id="262" r:id="Rc1754b7862724933"/>
    <p:sldId xmlns:r="http://schemas.openxmlformats.org/officeDocument/2006/relationships" id="263" r:id="Rbedad9fc089e4e2a"/>
    <p:sldId xmlns:r="http://schemas.openxmlformats.org/officeDocument/2006/relationships" id="264" r:id="Rd6bfa9e875c04442"/>
    <p:sldId xmlns:r="http://schemas.openxmlformats.org/officeDocument/2006/relationships" id="265" r:id="Rcd53f5ba6d9d416b"/>
    <p:sldId xmlns:r="http://schemas.openxmlformats.org/officeDocument/2006/relationships" id="266" r:id="R7e0726a758a74b2e"/>
    <p:sldId xmlns:r="http://schemas.openxmlformats.org/officeDocument/2006/relationships" id="267" r:id="R8b788ee92de34eef"/>
    <p:sldId xmlns:r="http://schemas.openxmlformats.org/officeDocument/2006/relationships" id="268" r:id="R16811690a16b4945"/>
    <p:sldId xmlns:r="http://schemas.openxmlformats.org/officeDocument/2006/relationships" id="269" r:id="Rd052e30b44cf49df"/>
    <p:sldId xmlns:r="http://schemas.openxmlformats.org/officeDocument/2006/relationships" id="270" r:id="Rbb522cab69d5409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46f216faaf4f1a" /><Relationship Type="http://schemas.openxmlformats.org/officeDocument/2006/relationships/slideMaster" Target="/ppt/slideMasters/slideMaster1.xml" Id="Re49725145ccf4b1f" /><Relationship Type="http://schemas.openxmlformats.org/officeDocument/2006/relationships/notesMaster" Target="/ppt/notesMasters/notesMaster1.xml" Id="Rf6e47379bf1341a5" /><Relationship Type="http://schemas.openxmlformats.org/officeDocument/2006/relationships/presProps" Target="/ppt/presProps.xml" Id="Rda2cecc6fd1e4234" /><Relationship Type="http://schemas.openxmlformats.org/officeDocument/2006/relationships/tableStyles" Target="/ppt/tableStyles.xml" Id="Rc01496b31faf4b2c" /><Relationship Type="http://schemas.openxmlformats.org/officeDocument/2006/relationships/slide" Target="/ppt/slides/slide1.xml" Id="Rb2e4a2c8f0b448b8" /><Relationship Type="http://schemas.openxmlformats.org/officeDocument/2006/relationships/slide" Target="/ppt/slides/slide2.xml" Id="R95ac30ea3cd54472" /><Relationship Type="http://schemas.openxmlformats.org/officeDocument/2006/relationships/slide" Target="/ppt/slides/slide3.xml" Id="R3d4973a3dc614846" /><Relationship Type="http://schemas.openxmlformats.org/officeDocument/2006/relationships/slide" Target="/ppt/slides/slide4.xml" Id="Rdab2bda73bca42ac" /><Relationship Type="http://schemas.openxmlformats.org/officeDocument/2006/relationships/slide" Target="/ppt/slides/slide5.xml" Id="Rb5457e9a06414c9a" /><Relationship Type="http://schemas.openxmlformats.org/officeDocument/2006/relationships/slide" Target="/ppt/slides/slide6.xml" Id="Rdc50a0babc874685" /><Relationship Type="http://schemas.openxmlformats.org/officeDocument/2006/relationships/slide" Target="/ppt/slides/slide7.xml" Id="Rc1754b7862724933" /><Relationship Type="http://schemas.openxmlformats.org/officeDocument/2006/relationships/slide" Target="/ppt/slides/slide8.xml" Id="Rbedad9fc089e4e2a" /><Relationship Type="http://schemas.openxmlformats.org/officeDocument/2006/relationships/slide" Target="/ppt/slides/slide9.xml" Id="Rd6bfa9e875c04442" /><Relationship Type="http://schemas.openxmlformats.org/officeDocument/2006/relationships/slide" Target="/ppt/slides/slide10.xml" Id="Rcd53f5ba6d9d416b" /><Relationship Type="http://schemas.openxmlformats.org/officeDocument/2006/relationships/slide" Target="/ppt/slides/slide11.xml" Id="R7e0726a758a74b2e" /><Relationship Type="http://schemas.openxmlformats.org/officeDocument/2006/relationships/slide" Target="/ppt/slides/slide12.xml" Id="R8b788ee92de34eef" /><Relationship Type="http://schemas.openxmlformats.org/officeDocument/2006/relationships/slide" Target="/ppt/slides/slide13.xml" Id="R16811690a16b4945" /><Relationship Type="http://schemas.openxmlformats.org/officeDocument/2006/relationships/slide" Target="/ppt/slides/slide14.xml" Id="Rd052e30b44cf49df" /><Relationship Type="http://schemas.openxmlformats.org/officeDocument/2006/relationships/slide" Target="/ppt/slides/slide15.xml" Id="Rbb522cab69d540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dd4602b0c43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6882be99e4ba5" /><Relationship Type="http://schemas.openxmlformats.org/officeDocument/2006/relationships/notesMaster" Target="/ppt/notesMasters/notesMaster1.xml" Id="Rff38f514d5db49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318b26e14b472c" /><Relationship Type="http://schemas.openxmlformats.org/officeDocument/2006/relationships/notesMaster" Target="/ppt/notesMasters/notesMaster1.xml" Id="Rbe1eaa6c791f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3259543dde4427" /><Relationship Type="http://schemas.openxmlformats.org/officeDocument/2006/relationships/notesMaster" Target="/ppt/notesMasters/notesMaster1.xml" Id="R95b28c2dbef044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05a29039084c74" /><Relationship Type="http://schemas.openxmlformats.org/officeDocument/2006/relationships/notesMaster" Target="/ppt/notesMasters/notesMaster1.xml" Id="R46d3641313fe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eb7c741a241fa" /><Relationship Type="http://schemas.openxmlformats.org/officeDocument/2006/relationships/notesMaster" Target="/ppt/notesMasters/notesMaster1.xml" Id="Rb16fbdf3415541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fc7a4fa391403a" /><Relationship Type="http://schemas.openxmlformats.org/officeDocument/2006/relationships/notesMaster" Target="/ppt/notesMasters/notesMaster1.xml" Id="R37dc725085f141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edd085b7ad4f3d" /><Relationship Type="http://schemas.openxmlformats.org/officeDocument/2006/relationships/notesMaster" Target="/ppt/notesMasters/notesMaster1.xml" Id="Rf48fc109d3c3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f15110f3b4b86" /><Relationship Type="http://schemas.openxmlformats.org/officeDocument/2006/relationships/notesMaster" Target="/ppt/notesMasters/notesMaster1.xml" Id="R9028921522304f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8b6311ffab4091" /><Relationship Type="http://schemas.openxmlformats.org/officeDocument/2006/relationships/notesMaster" Target="/ppt/notesMasters/notesMaster1.xml" Id="R460f9d2e10a947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4c8fc72bf747f3" /><Relationship Type="http://schemas.openxmlformats.org/officeDocument/2006/relationships/notesMaster" Target="/ppt/notesMasters/notesMaster1.xml" Id="R68cb0ba75c174f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4141e0242e49e0" /><Relationship Type="http://schemas.openxmlformats.org/officeDocument/2006/relationships/notesMaster" Target="/ppt/notesMasters/notesMaster1.xml" Id="Rffeea71a62bd45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64f3300bad4fe0" /><Relationship Type="http://schemas.openxmlformats.org/officeDocument/2006/relationships/notesMaster" Target="/ppt/notesMasters/notesMaster1.xml" Id="R426441baf8e14c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1cfca2aeaf4e8f" /><Relationship Type="http://schemas.openxmlformats.org/officeDocument/2006/relationships/notesMaster" Target="/ppt/notesMasters/notesMaster1.xml" Id="R3ba04b6cea084c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bef13c3d734b33" /><Relationship Type="http://schemas.openxmlformats.org/officeDocument/2006/relationships/notesMaster" Target="/ppt/notesMasters/notesMaster1.xml" Id="R6d11b15f87454c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455f7fce5e4cc4" /><Relationship Type="http://schemas.openxmlformats.org/officeDocument/2006/relationships/notesMaster" Target="/ppt/notesMasters/notesMaster1.xml" Id="Rd43ef1ed227148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 20 秒。介绍本次 Demo 的工作区分工：用户提出请求，在工作区确认变更。材料基于 2026-10-06 的独立集合真实验收。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来源：实时 GET /api/v1/generation-models，API 与 Agent 配置和真实 workflow_runs。界面默认由模型列表首项决定。auto 在后端解析到 CASEPILOT_AGENT_MODEL，当前为 doubao-seed-2.0-lite。ark-code-latest 是服务端暴露的路由名，本材料不推断其底层具体模型。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展示真实系统全景。对话显示请求、处理步骤和摘要，脑图用于浏览和定位，Review 工作区承接证据、候选与字段差异。图中是已完成验收的持久化结果。来源：本次实录截图 01-workspace.png。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这一页用于建立观众预期。所有行都经过本轮真实系统验收。生成先产生测试说明和候选，确认纳入才增加正式用例。明确的标题修改、查询可由确定性逻辑处理，不意味着每一步都会调用模型。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 25 秒。现场可以发送这个只读请求。来源：真实 CASE_QUERY 响应和本次结果回放。截图左侧查询结果是历史验收结果，集合后续已发生变更。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讲解约 45 秒。真实模型识别两条登录成功用例完全重复。展示当前历史报告的版本提示：该集合后来已经确认删除过一个重复用例。早先验收也证明 Review 保留项在切换脑图后仍保留。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这是本轮真实修改待确认时保存的原始截图。标题修改确认后 revision_number 增加 1，其余用例不变。后台只应用勾选字段。来源：artifacts/real-workspace-acceptance/02-modify-review.png。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真实验收先取消一次删除，再重新提交并确认。取消前后均为 3 条，确认后为 2 条。截图为后续已增加候选后的结果回放，当前最终集合为 4 条。不要把截图最终 4 条解读为删除前数量。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本图为真实生成完成、尚未纳入时的截图。请求包含链接有效期 10 分钟、过期禁止重置两条需求。真实生成 2 条候选，确认前正式集合仍为 2 条，纳入后为 4 条。来源：03-candidate-review.png。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来源：本次真实 CASE_REVIEW 流程与回放截图。与去重不同，这里关注步骤、预期、前提和可执行性。检查的建议可以作为下一轮明确修改请求的依据。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 KNOWLEDGE_QA 回复，验收比较了前后正式用例内容，保持一致。可作为现场稳定、耗时较短的演示意图。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真实生成后继续 Review 的初次验收发现候选引用未转正式引用。已修复 previous_result 优先使用 test_case_ids。随后使用同一后续操作参数、真实模型重新检查，并通过浏览器点击结果验证正式脑图定位。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证据：docs/acceptance-workspace-linkage-2026-10-06.md，artifacts/real-workspace-acceptance/result.json 与 linkage-followup.json。以下不是性能基准。4分22秒仅为本次候选生成阶段，测试说明阶段另有等待。未重新运行原始1001条大集合的完整模型生成。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本页内嵌 CasePilot_Demo.mp4，约88秒，静音，包含中文章节字幕。是当前真实系统对已完成验收结果的回放，没有重复执行增删改，也没有把等待压缩伪装成实时性能。若演示软件不支持内嵌视频，请播放同目录 MP4。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10分钟：1分钟说明模型与工作区分工；2分钟查询与问答；2分钟去重Review和定位脑图；2分钟展示修改/删除的确认边界；1.5分钟播放实录；1.5分钟介绍新增候选、连续意图和限制。更详细的逐字讲稿、提示词、备用流程见 Demo报告。所有写入操作使用独立演示集合，不在1001条正式验收集合上临时删除。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69ec10d24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211d994d6c4a44" /><Relationship Type="http://schemas.openxmlformats.org/officeDocument/2006/relationships/slideLayout" Target="/ppt/slideLayouts/slideLayout1.xml" Id="R1923791cc5e8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23791cc5e8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d0c1bc3ec4753" /><Relationship Type="http://schemas.openxmlformats.org/officeDocument/2006/relationships/notesSlide" Target="/ppt/notesSlides/notesSlide1.xml" Id="R7903b424d5d44f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c937d851e4f1d" /><Relationship Type="http://schemas.openxmlformats.org/officeDocument/2006/relationships/notesSlide" Target="/ppt/notesSlides/notesSlide2.xml" Id="Rada5c79ed02b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8cdff075943bd" /><Relationship Type="http://schemas.openxmlformats.org/officeDocument/2006/relationships/image" Target="/ppt/media/image.png" Id="R9965946e08034e97" /><Relationship Type="http://schemas.openxmlformats.org/officeDocument/2006/relationships/notesSlide" Target="/ppt/notesSlides/notesSlide3.xml" Id="Rb9703b1b06e747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6321caef64a3f" /><Relationship Type="http://schemas.openxmlformats.org/officeDocument/2006/relationships/notesSlide" Target="/ppt/notesSlides/notesSlide4.xml" Id="R49eb788bf19c41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aff5b02774a26" /><Relationship Type="http://schemas.openxmlformats.org/officeDocument/2006/relationships/image" Target="/ppt/media/image2.png" Id="Rd3e49ac4377b4bee" /><Relationship Type="http://schemas.openxmlformats.org/officeDocument/2006/relationships/notesSlide" Target="/ppt/notesSlides/notesSlide5.xml" Id="R4cdcbcb6e3f745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3298277b44d05" /><Relationship Type="http://schemas.openxmlformats.org/officeDocument/2006/relationships/image" Target="/ppt/media/image3.png" Id="R300bfd75d8994bae" /><Relationship Type="http://schemas.openxmlformats.org/officeDocument/2006/relationships/notesSlide" Target="/ppt/notesSlides/notesSlide6.xml" Id="Rb53b6b9e1a364a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fe40189db44e7" /><Relationship Type="http://schemas.openxmlformats.org/officeDocument/2006/relationships/image" Target="/ppt/media/image4.png" Id="R26d8d1124fe649d1" /><Relationship Type="http://schemas.openxmlformats.org/officeDocument/2006/relationships/notesSlide" Target="/ppt/notesSlides/notesSlide7.xml" Id="R2424ea914dfa42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58fea8ed942b8" /><Relationship Type="http://schemas.openxmlformats.org/officeDocument/2006/relationships/image" Target="/ppt/media/image5.png" Id="R25e7cd78e8e34e74" /><Relationship Type="http://schemas.openxmlformats.org/officeDocument/2006/relationships/notesSlide" Target="/ppt/notesSlides/notesSlide8.xml" Id="Rfd75777893a54e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c6746e86c40db" /><Relationship Type="http://schemas.openxmlformats.org/officeDocument/2006/relationships/image" Target="/ppt/media/image6.png" Id="Redc5ddae42c74c47" /><Relationship Type="http://schemas.openxmlformats.org/officeDocument/2006/relationships/notesSlide" Target="/ppt/notesSlides/notesSlide9.xml" Id="Rab3d882c8b7344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2342ca3c14cf0" /><Relationship Type="http://schemas.openxmlformats.org/officeDocument/2006/relationships/image" Target="/ppt/media/image7.png" Id="R14741a6a5d9a4d43" /><Relationship Type="http://schemas.openxmlformats.org/officeDocument/2006/relationships/notesSlide" Target="/ppt/notesSlides/notesSlide10.xml" Id="Rb317618e13074f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942aaa43f46e8" /><Relationship Type="http://schemas.openxmlformats.org/officeDocument/2006/relationships/image" Target="/ppt/media/image8.png" Id="Ra1acf711e6774b75" /><Relationship Type="http://schemas.openxmlformats.org/officeDocument/2006/relationships/notesSlide" Target="/ppt/notesSlides/notesSlide11.xml" Id="R2bf0f0ef9bb245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2d6eee6ac4c93" /><Relationship Type="http://schemas.openxmlformats.org/officeDocument/2006/relationships/image" Target="/ppt/media/image9.png" Id="Rb3a98e8a3ea94617" /><Relationship Type="http://schemas.openxmlformats.org/officeDocument/2006/relationships/notesSlide" Target="/ppt/notesSlides/notesSlide12.xml" Id="Rc2796ed242a149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7d71f911a403b" /><Relationship Type="http://schemas.openxmlformats.org/officeDocument/2006/relationships/notesSlide" Target="/ppt/notesSlides/notesSlide13.xml" Id="Rf4c452fc729e4886" 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e904b4ce2ea448c"/><Relationship Type="http://schemas.openxmlformats.org/officeDocument/2006/relationships/image" Target="/ppt/media/image10.png" Id="Ra35dbd25c43844c2"/><Relationship Type="http://schemas.openxmlformats.org/officeDocument/2006/relationships/notesSlide" Target="/ppt/notesSlides/notesSlide14.xml" Id="R78f98b2696b3443a"/><Relationship Id="rIdDemoVideo" Type="http://schemas.openxmlformats.org/officeDocument/2006/relationships/video" Target="../media/CasePilot_Demo.mp4"/><Relationship Id="rIdDemoMedia" Type="http://schemas.microsoft.com/office/2007/relationships/media" Target="../media/CasePilot_Demo.mp4"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2457d00924148" /><Relationship Type="http://schemas.openxmlformats.org/officeDocument/2006/relationships/notesSlide" Target="/ppt/notesSlides/notesSlide15.xml" Id="Ra6fb551a46ca4b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C0F52-DAAD-4EF7-990F-68187A4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AEE40-20A4-4D87-A7DF-9F88E3B8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5EEBE-1463-4FA0-B89E-532781AB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CasePilot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AFF1A-E941-4B6B-8552-75E8F286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自然语言用例工作台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323E4-5D8D-444B-B188-17F9C284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1266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BD2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BBD2FF"/>
                </a:solidFill>
                <a:latin typeface="Arial Unicode MS"/>
                <a:ea typeface="Arial Unicode MS"/>
                <a:cs typeface="Arial Unicode MS"/>
              </a:rPr>
              <a:t>用户意图、工作区联动与真实验收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1A58B-CC8A-4B56-AE26-6C48D145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124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D2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BBD2FF"/>
                </a:solidFill>
                <a:latin typeface="Arial Unicode MS"/>
                <a:ea typeface="Arial Unicode MS"/>
                <a:cs typeface="Arial Unicode MS"/>
              </a:rPr>
              <a:t>产品 Demo  /  2026.10.06</a:t>
            </a:r>
          </a:p>
        </p:txBody>
      </p:sp>
    </p:spTree>
    <p:extLst>
      <p:ext uri="{BB962C8B-B14F-4D97-AF65-F5344CB8AC3E}">
        <p14:creationId xmlns:p14="http://schemas.microsoft.com/office/powerpoint/2010/main" val="755615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722F9-5AD6-4940-B8E5-74338C9C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当前模型配置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4C7F5-6AD2-4A9D-A53E-4505F11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3868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857750"/>
                <a:gridCol w="5676900"/>
              </a:tblGrid>
              <a:tr h="1000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使用位置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当前值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Demo 中的说明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界面默认选择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ark-code-latest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火山方舟 Coding Plan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后端 auto / 备用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doubao-seed-2.0-lite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部分阶段超时后切换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真实执行记录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按阶段记录实际模型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去重使用 ark，生成曾切换备用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B448A-B198-4B77-8BF0-63EA65D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现场以输入框的模型选择和任务阶段记录为准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77E5A-9041-49E3-AA57-916A85B9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0425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这两种默认值目前不同，auto 不代表固定使用 ark-code-latest。</a:t>
            </a:r>
          </a:p>
        </p:txBody>
      </p:sp>
    </p:spTree>
    <p:extLst>
      <p:ext uri="{BB962C8B-B14F-4D97-AF65-F5344CB8AC3E}">
        <p14:creationId xmlns:p14="http://schemas.microsoft.com/office/powerpoint/2010/main" val="2040355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95A67-D2DD-4829-BBE0-21BEB148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对话、脑图与 Review 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72217-75B1-4BC8-ADDE-E1A04757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A9D2B-2767-4145-A29B-79585E5C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048000" cy="566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对话区</a:t>
            </a:r>
          </a:p>
          <a:p xmlns:a="http://schemas.openxmlformats.org/drawingml/2006/main">
            <a:pPr>
              <a:def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请求与结论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脑图</a:t>
            </a:r>
          </a:p>
          <a:p xmlns:a="http://schemas.openxmlformats.org/drawingml/2006/main">
            <a:pPr>
              <a:def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用例结构与定位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Review</a:t>
            </a:r>
          </a:p>
          <a:p xmlns:a="http://schemas.openxmlformats.org/drawingml/2006/main">
            <a:pPr>
              <a:def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证据与变更确认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5946e08034e97"/>
          <a:stretch xmlns:a="http://schemas.openxmlformats.org/drawingml/2006/main"/>
        </p:blipFill>
        <p:spPr>
          <a:xfrm xmlns:a="http://schemas.openxmlformats.org/drawingml/2006/main">
            <a:off x="4248150" y="1571625"/>
            <a:ext cx="9982200" cy="6238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2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50973-0A61-44BB-A21E-FEB6B66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七类意图的处理边界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ADC59-C37F-4D10-9C0F-21DC30EA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3868400" cy="604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238750"/>
                <a:gridCol w="5581650"/>
              </a:tblGrid>
              <a:tr h="756047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用户意图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结果展示位置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正式用例何时变化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查询用例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对话中的匹配结果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不变化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重复冗余检查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摘要及 Review 建议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确认删除后变化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 Review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检查证据及改进建议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检查本身不变化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修改用例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工作区字段差异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确认应用后变化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删除用例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工作区受影响清单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明确确认后软删除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新增用例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测试说明及候选列表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确认纳入后增加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6047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知识问答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对话解释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不变化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856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5AD14-E1D4-4B5C-BF94-CFA3C5B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查询用例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C05F9-75BD-4911-9011-A67191B6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829C0-2816-4410-9F9D-C465133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804B6-7D21-48A7-A8DA-3EC633F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“查询当前集合的</a:t>
            </a:r>
          </a:p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账号登录用例”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907F8-1C23-46A9-ADDF-3F5BBD04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限定当前集合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返回 2 条匹配结果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不产生写入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49ac4377b4bee"/>
          <a:srcRect xmlns:a="http://schemas.openxmlformats.org/drawingml/2006/main" l="0" t="12000" r="58000" b="23000"/>
          <a:stretch xmlns:a="http://schemas.openxmlformats.org/drawingml/2006/main"/>
        </p:blipFill>
        <p:spPr>
          <a:xfrm xmlns:a="http://schemas.openxmlformats.org/drawingml/2006/main">
            <a:off x="6878735" y="1600200"/>
            <a:ext cx="6006905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15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F6419-8A2D-43E6-BFF3-6C3D46C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重复冗余检查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D8F3E-DB2B-4629-9D79-C28380B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E3A12-C568-417E-A282-B59B639C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F6125-59BF-46FA-812C-EDEC53A5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“检查重复用例，</a:t>
            </a:r>
          </a:p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说明依据和保留建议”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49354-F85F-4485-9270-57A5FA6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聊天保留检查摘要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工作区展示分组与证据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点击编号定位脑图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bfd75d8994bae"/>
          <a:srcRect xmlns:a="http://schemas.openxmlformats.org/drawingml/2006/main" l="42000" t="14000" r="0" b="0"/>
          <a:stretch xmlns:a="http://schemas.openxmlformats.org/drawingml/2006/main"/>
        </p:blipFill>
        <p:spPr>
          <a:xfrm xmlns:a="http://schemas.openxmlformats.org/drawingml/2006/main">
            <a:off x="6747355" y="1600200"/>
            <a:ext cx="6269665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03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4B984-35D2-49F6-881C-F43D609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修改用例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E1608-2FAC-42B7-AC5D-1756991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E58B2-48C5-495D-8228-DCBA8E8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C3477-4D05-4880-95CC-190E643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“修改选中用例的标题”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842A8-5172-4860-B113-64CDFFC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脑图选择明确目标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预览修改前后的字段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确认后创建新版本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8d1124fe649d1"/>
          <a:srcRect xmlns:a="http://schemas.openxmlformats.org/drawingml/2006/main" l="42000" t="14000" r="1500" b="35000"/>
          <a:stretch xmlns:a="http://schemas.openxmlformats.org/drawingml/2006/main"/>
        </p:blipFill>
        <p:spPr>
          <a:xfrm xmlns:a="http://schemas.openxmlformats.org/drawingml/2006/main">
            <a:off x="5247659" y="1600200"/>
            <a:ext cx="9269058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27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2CCDC-D0C6-4373-B738-8A5A0734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删除用例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612C8-5119-4875-989B-989740B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B96B8-978E-4F27-AEED-ECF08EDF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5F21F-D482-45A3-B38B-49BD6018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“删除指定重复用例，</a:t>
            </a:r>
          </a:p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保留其他用例”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6AFBA-C7BA-4F7F-8199-3C05C5DC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先核对受影响清单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取消不会改变数据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确认后软删除并保留记录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7cd78e8e34e74"/>
          <a:stretch xmlns:a="http://schemas.openxmlformats.org/drawingml/2006/main"/>
        </p:blipFill>
        <p:spPr>
          <a:xfrm xmlns:a="http://schemas.openxmlformats.org/drawingml/2006/main">
            <a:off x="5233988" y="1600200"/>
            <a:ext cx="9296400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08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28C8E-1479-45D1-A1A6-ABFDC14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新增用例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0E243-5E24-4663-A92E-FC8BD69D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6CC26-9B1B-426F-A654-102CB9FA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6C623-629A-485A-9BBA-F755694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“新增两条</a:t>
            </a:r>
          </a:p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密码重置测试用例”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BCEBD-0937-4AD4-8805-F5EA42F9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审阅结构化测试说明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生成候选后逐条检查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确认纳入正式集合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5ddae42c74c47"/>
          <a:stretch xmlns:a="http://schemas.openxmlformats.org/drawingml/2006/main"/>
        </p:blipFill>
        <p:spPr>
          <a:xfrm xmlns:a="http://schemas.openxmlformats.org/drawingml/2006/main">
            <a:off x="5698808" y="1600200"/>
            <a:ext cx="8366760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93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2A2B9-52AA-4D0B-AC6F-14A5296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质量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679A6-4AB4-4C89-B5C3-44625489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81E74-78AA-4189-9055-9A84545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B3E55-A968-4C58-B33F-1054C584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“检查步骤和预期</a:t>
            </a:r>
          </a:p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是否清晰、可执行”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FA238-96E7-449C-A662-EE7F580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给出具体问题与依据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保留检查的版本语境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检查本身不修改资产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41a6a5d9a4d43"/>
          <a:srcRect xmlns:a="http://schemas.openxmlformats.org/drawingml/2006/main" l="42000" t="14000" r="0" b="0"/>
          <a:stretch xmlns:a="http://schemas.openxmlformats.org/drawingml/2006/main"/>
        </p:blipFill>
        <p:spPr>
          <a:xfrm xmlns:a="http://schemas.openxmlformats.org/drawingml/2006/main">
            <a:off x="6747355" y="1600200"/>
            <a:ext cx="6269665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326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CAC97-DBEC-484D-97FC-2423951C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知识问答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9CD3E-7442-4D8B-A249-5C6B4C77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875B2-D1E5-43E6-B94F-BAE07125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9237D-89DC-4259-A32A-01AE503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“什么是边界值测试？</a:t>
            </a:r>
          </a:p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请简短解释”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46366-C4A0-466C-A8E2-F7CD168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在对话区回答问题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不生成修改审阅单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正式集合保持不变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cf711e6774b75"/>
          <a:srcRect xmlns:a="http://schemas.openxmlformats.org/drawingml/2006/main" l="0" t="13000" r="58000" b="13000"/>
          <a:stretch xmlns:a="http://schemas.openxmlformats.org/drawingml/2006/main"/>
        </p:blipFill>
        <p:spPr>
          <a:xfrm xmlns:a="http://schemas.openxmlformats.org/drawingml/2006/main">
            <a:off x="7244020" y="1600200"/>
            <a:ext cx="5276335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77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A29FD-5A26-49D6-A20F-8F32FFF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连续意图的用例引用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9AF69-ECA1-473B-B371-85854643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7BD79-5642-44A4-A41F-B8200271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用户表达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A415E-BFB6-4B6C-B20D-F5DD61D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生成候选并确认纳入，</a:t>
            </a:r>
          </a:p>
          <a:p xmlns:a="http://schemas.openxmlformats.org/drawingml/2006/main">
            <a:pPr>
              <a:def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继续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BF8BE-CEB4-4B30-95F6-F0AAFA64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后续检查读取正式版本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报告引用正式用例 ID</a:t>
            </a:r>
          </a:p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点击结果再次定位脑图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98e8a3ea94617"/>
          <a:stretch xmlns:a="http://schemas.openxmlformats.org/drawingml/2006/main"/>
        </p:blipFill>
        <p:spPr>
          <a:xfrm xmlns:a="http://schemas.openxmlformats.org/drawingml/2006/main">
            <a:off x="5233988" y="1600200"/>
            <a:ext cx="9296400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498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0A84B-BE40-47A1-89FE-0054045A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真实验收结果与演示边界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B58BD-1B0F-453C-BC41-73A50A4E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3868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2286000"/>
                <a:gridCol w="5295900"/>
              </a:tblGrid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独立集合的变化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正式用例数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核对结果</a:t>
                      </a:r>
                    </a:p>
                  </a:txBody>
                  <a:tcPr marL="91440" marR="91440" marT="45720" marB="45720">
                    <a:solidFill>
                      <a:srgbClr val="10254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初始集合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含 1 组重复用例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确认删除后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其他用例未变化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确认纳入 2 条候选后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5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脑图及刷新结果一致</a:t>
                      </a:r>
                    </a:p>
                  </a:txBody>
                  <a:tcPr marL="91440" marR="91440" marT="45720" marB="45720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05DBB-8EBE-494C-936D-0C7CC42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7 类意图通过真实验收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3333E-EDAC-4E0B-8C70-C3EF3195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352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生成约 4 分 22 秒，曾触发备用模型</a:t>
            </a:r>
          </a:p>
          <a:p xmlns:a="http://schemas.openxmlformats.org/drawingml/2006/main">
            <a:pPr>
              <a:defRPr sz="21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现场保留录播，避免长时间等待</a:t>
            </a:r>
          </a:p>
          <a:p xmlns:a="http://schemas.openxmlformats.org/drawingml/2006/main">
            <a:pPr>
              <a:defRPr sz="21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大规模集合与重启恢复不在本轮复测范围</a:t>
            </a:r>
          </a:p>
        </p:txBody>
      </p:sp>
    </p:spTree>
    <p:extLst>
      <p:ext uri="{BB962C8B-B14F-4D97-AF65-F5344CB8AC3E}">
        <p14:creationId xmlns:p14="http://schemas.microsoft.com/office/powerpoint/2010/main" val="1369150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83C5C-EB33-4FB8-9EF1-A04C6735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工作区实录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CBA81-C004-430D-8F2D-7360BF06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pic>
        <p:nvPicPr>
          <p:cNvPr id="7" name="CasePilot Demo Video"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DemoVideo"/>
            <p:extLst>
              <p:ext uri="{DAA4B4D4-24E3-4E12-9C1A-DA846E7F9BC5}">
                <ns3:media xmlns:ns3="http://schemas.microsoft.com/office/powerpoint/2010/main" xmlns:ns4="http://schemas.openxmlformats.org/officeDocument/2006/relationships" ns4:embed="rIdDemo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a35dbd25c43844c2"/>
          <a:stretch xmlns:a="http://schemas.openxmlformats.org/drawingml/2006/main"/>
        </p:blipFill>
        <p:spPr>
          <a:xfrm xmlns:a="http://schemas.openxmlformats.org/drawingml/2006/main">
            <a:off x="2499360" y="1428750"/>
            <a:ext cx="10241280" cy="6400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2992B-2CE5-4C3F-9251-0A0E113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67650"/>
            <a:ext cx="1238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单击画面播放  /  无声字幕实录  /  可单独打开同目录 MP4</a:t>
            </a:r>
          </a:p>
        </p:txBody>
      </p:sp>
    </p:spTree>
    <p:extLst>
      <p:ext uri="{BB962C8B-B14F-4D97-AF65-F5344CB8AC3E}">
        <p14:creationId xmlns:p14="http://schemas.microsoft.com/office/powerpoint/2010/main" val="927836044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B03F1-E437-4102-9BEE-37FD2A42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6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现场演示顺序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38351-BBAA-4998-BE4E-C88C97B4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D7DCC-4921-46F8-8FB9-26EC3F4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238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01   模型与工作区分工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152EB-1F7E-41F9-91C9-31D3E3B5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304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02   查询、问答、Review 与脑图定位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82804-761E-4963-A946-B3C37F35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304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03   字段差异、删除清单和确认边界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1B710-E38C-4FA2-8E86-46DCF49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304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02545"/>
                </a:solidFill>
                <a:latin typeface="Arial Unicode MS"/>
                <a:ea typeface="Arial Unicode MS"/>
                <a:cs typeface="Arial Unicode MS"/>
              </a:rPr>
              <a:t>04   新增候选与连续意图的实录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2C1D9-2BEC-4D9E-8FD7-C8CADC3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96025"/>
            <a:ext cx="1257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45FEF"/>
                </a:solidFill>
                <a:latin typeface="Arial Unicode MS"/>
                <a:ea typeface="Arial Unicode MS"/>
                <a:cs typeface="Arial Unicode MS"/>
              </a:rPr>
              <a:t>约 10 分钟，优先展示用户如何完成任务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933B2-0E5F-47C6-8160-60AAF963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24700"/>
            <a:ext cx="1295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2657E"/>
                </a:solidFill>
                <a:latin typeface="Arial Unicode MS"/>
                <a:ea typeface="Arial Unicode MS"/>
                <a:cs typeface="Arial Unicode MS"/>
              </a:rPr>
              <a:t>准备材料：独立演示集合、PPT、同目录视频、Demo 报告</a:t>
            </a:r>
          </a:p>
        </p:txBody>
      </p:sp>
    </p:spTree>
    <p:extLst>
      <p:ext uri="{BB962C8B-B14F-4D97-AF65-F5344CB8AC3E}">
        <p14:creationId xmlns:p14="http://schemas.microsoft.com/office/powerpoint/2010/main" val="1618751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2026-10-06T07:59:50.3670000Z</dcterms:created>
  <dcterms:modified xsi:type="dcterms:W3CDTF">2026-10-06T07:59:50.3670000Z</dcterms:modified>
</coreProperties>
</file>